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58717" y="1515926"/>
            <a:ext cx="582656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Tema 4: Clases y Herencia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en PHP 8.4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658717" y="2784611"/>
            <a:ext cx="582656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93C5FD"/>
                </a:solidFill>
              </a:rPr>
              <a:t>Programación Orientada a Objetos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1658717" y="3413261"/>
            <a:ext cx="58265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0A5FA"/>
                </a:solidFill>
              </a:rPr>
              <a:t>PHP 8.4 | Grado Superior | Desarrollo Web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Índice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1501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1.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821531" y="1150144"/>
            <a:ext cx="28020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Introducción a la Programación Orientada a Objetos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00063" y="14930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2.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821531" y="1493044"/>
            <a:ext cx="87622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Clases y Objetos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00063" y="18359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3.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821531" y="1835944"/>
            <a:ext cx="12618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Propiedades y Métodos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00063" y="21788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4.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821531" y="2178844"/>
            <a:ext cx="15642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Constructores y Destructores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00063" y="25217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5.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821531" y="2521744"/>
            <a:ext cx="19443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Visibilidad: Public, Private, Protected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00063" y="28646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6.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821531" y="2864644"/>
            <a:ext cx="16044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Herencia I: Conceptos Básicos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00063" y="32075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7.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821531" y="3207544"/>
            <a:ext cx="15879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Herencia II: Override y Parent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00063" y="35504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8.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821531" y="3557588"/>
            <a:ext cx="19170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Property Hooks (Novedad PHP 8.4)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679156" y="11501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9.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5000625" y="1157288"/>
            <a:ext cx="22511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Visibilidad Asimétrica (Novedad PHP 8.4)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679156" y="14930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10.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5000625" y="1493044"/>
            <a:ext cx="5398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Interfaces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679156" y="18359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11.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000625" y="1835944"/>
            <a:ext cx="93292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Clases Abstractas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679156" y="21788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12.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5000625" y="2178844"/>
            <a:ext cx="2923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Traits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4679156" y="25217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13.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5000625" y="2521744"/>
            <a:ext cx="2276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Ejemplo Completo I: Sistema de Productos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4679156" y="28646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14.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5000625" y="2864644"/>
            <a:ext cx="22450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Ejemplo Completo II: Sistema de Usuarios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679156" y="32075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15.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5000625" y="3207544"/>
            <a:ext cx="13484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Buenas Prácticas en POO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4679156" y="35504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16.</a:t>
            </a:r>
            <a:endParaRPr lang="en-US" sz="987" dirty="0"/>
          </a:p>
        </p:txBody>
      </p:sp>
      <p:sp>
        <p:nvSpPr>
          <p:cNvPr id="35" name="Text 32"/>
          <p:cNvSpPr/>
          <p:nvPr/>
        </p:nvSpPr>
        <p:spPr>
          <a:xfrm>
            <a:off x="5000625" y="3550444"/>
            <a:ext cx="1007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Ejercicios Prácticos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Introducción a la Programación Orientada a Objetos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114425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¿Qué es la POO?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00063" y="1414463"/>
            <a:ext cx="39290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La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Programación Orientada a Objetos (POO)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es un paradigma de programación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que organiza el código en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objetos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que contienen datos (propiedades) y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comportamientos (métodos).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500063" y="1980214"/>
            <a:ext cx="39290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A diferencia de la programación procedural, donde el código se organiza en funciones, la POO modela el mundo real mediante objetos que interactúan entre sí.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500063" y="2407388"/>
            <a:ext cx="3929063" cy="82867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5"/>
          <p:cNvSpPr/>
          <p:nvPr/>
        </p:nvSpPr>
        <p:spPr>
          <a:xfrm>
            <a:off x="607219" y="2514544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Paradigmas de Programación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607219" y="2710997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Procedural: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Funciones y procedimientos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607219" y="2850300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Orientado a Objetos: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Clases y objetos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607219" y="2989604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Funcional: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Funciones puras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500063" y="3378938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Conceptos Básicos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00063" y="3678975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•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614502" y="3678975"/>
            <a:ext cx="197708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Clase: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Plantilla o molde para crear objetos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00063" y="3996147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•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614502" y="3996147"/>
            <a:ext cx="142180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Objeto: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Instancia de una clase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00063" y="4313318"/>
            <a:ext cx="430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•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614502" y="4313318"/>
            <a:ext cx="264257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Instancia: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Objeto específico creado a partir de una clase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714875" y="1114425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E3A8A"/>
                </a:solidFill>
              </a:rPr>
              <a:t>Ventajas de la POO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714875" y="1414463"/>
            <a:ext cx="82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✓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4868968" y="1414463"/>
            <a:ext cx="360178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Reutilización: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El código se puede reutilizar mediante herencia y composición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714875" y="1731634"/>
            <a:ext cx="82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✓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868968" y="1731634"/>
            <a:ext cx="377497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Encapsulación: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Los datos y métodos se agrupan en objetos, ocultando la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implementación interna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4714875" y="2208814"/>
            <a:ext cx="82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✓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4868968" y="2208814"/>
            <a:ext cx="365330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Modularidad: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El código se organiza en módulos independientes y manejables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714875" y="2525985"/>
            <a:ext cx="82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✓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868968" y="2525985"/>
            <a:ext cx="283606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Mantenibilidad: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Es más fácil mantener y actualizar el código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714875" y="2843157"/>
            <a:ext cx="82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✓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868968" y="2843157"/>
            <a:ext cx="294467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Escalabilidad: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151"/>
                </a:solidFill>
              </a:rPr>
              <a:t> Facilita el crecimiento de aplicaciones complejas</a:t>
            </a:r>
            <a:endParaRPr lang="en-US" sz="683" dirty="0"/>
          </a:p>
        </p:txBody>
      </p:sp>
      <p:sp>
        <p:nvSpPr>
          <p:cNvPr id="30" name="Shape 27"/>
          <p:cNvSpPr/>
          <p:nvPr/>
        </p:nvSpPr>
        <p:spPr>
          <a:xfrm>
            <a:off x="4714875" y="3231766"/>
            <a:ext cx="3929063" cy="116443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Text 28"/>
          <p:cNvSpPr/>
          <p:nvPr/>
        </p:nvSpPr>
        <p:spPr>
          <a:xfrm>
            <a:off x="4822031" y="3338922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Ejemplo del Mundo Real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4822031" y="3535375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Imagina una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tienda de frutas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: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4822031" y="3731828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Clase: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"Producto" (plantilla)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4822031" y="3871131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Objetos: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"Manzana", "Naranja", "Plátano" (instancias específicas)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4822031" y="4010434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Propiedades: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nombre, precio, stock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4822031" y="4149737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Métodos: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vender(), reabastecer(), calcularDescuento()</a:t>
            </a:r>
            <a:endParaRPr lang="en-US" sz="67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874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Clases y Objetos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Definición de Clase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00063" y="1285875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Una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clase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es una plantilla que define las propiedades (atributos) y métodos (funciones)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que tendrán los objetos creados a partir de ella.</a:t>
            </a:r>
            <a:endParaRPr lang="en-US" sz="674" dirty="0"/>
          </a:p>
        </p:txBody>
      </p:sp>
      <p:sp>
        <p:nvSpPr>
          <p:cNvPr id="6" name="Text 3"/>
          <p:cNvSpPr/>
          <p:nvPr/>
        </p:nvSpPr>
        <p:spPr>
          <a:xfrm>
            <a:off x="500063" y="167163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Sintaxis Básica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500063" y="1914525"/>
            <a:ext cx="3964781" cy="229928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614363" y="2028825"/>
            <a:ext cx="3736181" cy="2070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Definir una clase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Propiedades (atributos)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$stock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Métodos (funciones)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mostrarInfo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"Producto: 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.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 - Precio: $"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.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679156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Crear Objetos (Instancias)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679156" y="1285875"/>
            <a:ext cx="3964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Un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objeto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es una instancia de una clase. Se crea usando la palabra clave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new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.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4679156" y="1510903"/>
            <a:ext cx="3964781" cy="19807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4793456" y="1625203"/>
            <a:ext cx="3736181" cy="17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Crear un objeto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Asignar valores a las propiedades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"Manzana"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1.50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stock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100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Llamar a un método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mostrarInfo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Producto: Manzana - Precio: $1.50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4679156" y="3598776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Múltiples Objetos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4679156" y="3841663"/>
            <a:ext cx="3964781" cy="150286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4793456" y="3955963"/>
            <a:ext cx="3736181" cy="127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Crear varios objetos de la misma clase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$producto2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$producto2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"Pera"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$producto2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1.20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$producto3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$producto3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"Naranja"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$producto3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1.80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580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Propiedades y Métodos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Clase con Propiedades y Métodos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500063" y="1285875"/>
            <a:ext cx="3964781" cy="452924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614363" y="1400175"/>
            <a:ext cx="3736181" cy="430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CuentaBancaria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Propiedades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$titular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$saldo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$numeroCuenta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Método para depositar dinero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depositar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$cantidad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saldo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+=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$cantidad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"Depósito de $"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.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$cantidad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.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 realizado\n"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Método para retirar dinero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retirar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$cantidad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if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saldo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&gt;=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$cantidad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saldo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-=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$cantidad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"Retiro de $"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.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$cantidad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.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 realizado\n"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}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else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"Saldo insuficiente\n"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Método para consultar saldo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consultarSaldo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saldo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4679156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Uso de la Clase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4679156" y="1285875"/>
            <a:ext cx="3964781" cy="30742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4793456" y="1400175"/>
            <a:ext cx="3736181" cy="2845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Crear objeto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$cuenta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CuentaBancaria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Asignar propiedades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$cuenta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titular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"Juan Pérez"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$cuenta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saldo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1000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$cuenta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numeroCuenta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"ES123456"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Usar métodos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$cuenta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depositar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500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Depósito de $500 realizado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$cuenta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retirar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200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Retiro de $200 realizado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$saldoActual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$cuenta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consultarSaldo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"Saldo actual: $"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.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$saldoActual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Saldo actual: $1300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679156" y="4467299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Acceso con $this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679156" y="4710187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La variable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se refiere al objeto actual y permite acceder a sus propiedades y métodos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desde dentro de la clase.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481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Constructores y Destructores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Constructor Tradicional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00063" y="1285875"/>
            <a:ext cx="3964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El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constructor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es un método especial que se ejecuta automáticamente al crear un objeto.</a:t>
            </a:r>
            <a:endParaRPr lang="en-US" sz="674" dirty="0"/>
          </a:p>
        </p:txBody>
      </p:sp>
      <p:sp>
        <p:nvSpPr>
          <p:cNvPr id="6" name="Shape 3"/>
          <p:cNvSpPr/>
          <p:nvPr/>
        </p:nvSpPr>
        <p:spPr>
          <a:xfrm>
            <a:off x="500063" y="1510903"/>
            <a:ext cx="3964781" cy="325498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614363" y="1625203"/>
            <a:ext cx="3736181" cy="3026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$stock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Constructor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$stock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stock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$stock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Crear objeto con constructor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"Manzana"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1.50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100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4679156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Promoted Properties (PHP 8.0+)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679156" y="1285875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PHP 8.0 introduce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promoted properties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, una sintaxis más concisa para declarar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propiedades en el constructor.</a:t>
            </a:r>
            <a:endParaRPr lang="en-US" sz="674" dirty="0"/>
          </a:p>
        </p:txBody>
      </p:sp>
      <p:sp>
        <p:nvSpPr>
          <p:cNvPr id="10" name="Shape 7"/>
          <p:cNvSpPr/>
          <p:nvPr/>
        </p:nvSpPr>
        <p:spPr>
          <a:xfrm>
            <a:off x="4679156" y="1650206"/>
            <a:ext cx="3964781" cy="325498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4793456" y="1764506"/>
            <a:ext cx="3736181" cy="3026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Constructor con promoted properties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$stock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Las propiedades se asignan automáticamente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mostrarInfo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"{$this-&gt;nombre}: ${$this-&gt;precio}"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Uso idéntico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"Pera"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1.20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50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mostrarInfo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Pera: $1.20</a:t>
            </a:r>
            <a:endParaRPr lang="en-US" sz="6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459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Herencia en PHP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Clase Padre (Base)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00063" y="1285875"/>
            <a:ext cx="3964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La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herencia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permite crear clases que heredan propiedades y métodos de otras clases.</a:t>
            </a:r>
            <a:endParaRPr lang="en-US" sz="674" dirty="0"/>
          </a:p>
        </p:txBody>
      </p:sp>
      <p:sp>
        <p:nvSpPr>
          <p:cNvPr id="6" name="Shape 3"/>
          <p:cNvSpPr/>
          <p:nvPr/>
        </p:nvSpPr>
        <p:spPr>
          <a:xfrm>
            <a:off x="500063" y="1510903"/>
            <a:ext cx="3964781" cy="341426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614363" y="1625203"/>
            <a:ext cx="3736181" cy="3185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Clase padre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Vehiculo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$marca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$modelo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$año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arrancar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"El vehículo está arrancando...\n"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detener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"El vehículo se ha detenido.\n"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mostrarInfo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"{$this-&gt;marca} {$this-&gt;modelo} ({$this-&gt;año})\n"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4679156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Clase Hija (Derivada)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679156" y="1285875"/>
            <a:ext cx="3964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La clase hija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hereda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todo de la clase padre y puede añadir nuevas propiedades y métodos.</a:t>
            </a:r>
            <a:endParaRPr lang="en-US" sz="674" dirty="0"/>
          </a:p>
        </p:txBody>
      </p:sp>
      <p:sp>
        <p:nvSpPr>
          <p:cNvPr id="10" name="Shape 7"/>
          <p:cNvSpPr/>
          <p:nvPr/>
        </p:nvSpPr>
        <p:spPr>
          <a:xfrm>
            <a:off x="4679156" y="1510903"/>
            <a:ext cx="3964781" cy="38921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4793456" y="1625203"/>
            <a:ext cx="3736181" cy="3663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Clase hija que hereda de Vehiculo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Coche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extends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Vehiculo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$marca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$modelo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$año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int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$numPuertas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Llamar al constructor padre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parent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$marca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$modelo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$año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Método específico de Coche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abrirMaletero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"Maletero abierto.\n"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Uso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$miCoche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Coche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"Toyota"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"Corolla"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2024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4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$miCoche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mostrarInfo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Heredado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$miCoche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arrancar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 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Heredado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$miCoche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abrirMaletero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Propio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580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Property Hooks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842963"/>
            <a:ext cx="8143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✨ Novedad en PHP 8.4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00063" y="121443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¿Qué son los Property Hooks?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00063" y="1457325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Los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property hooks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permiten definir lógica personalizada al leer (get) o escribir (set) una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propiedad, sin necesidad de métodos getter/setter explícitos.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500063" y="18430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Sintaxis Básica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500063" y="2085975"/>
            <a:ext cx="3964781" cy="405139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614363" y="2200275"/>
            <a:ext cx="3736181" cy="3822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Propiedad con hook 'get'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get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=&gt;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strtoupper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Propiedad con hook 'set' para validación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set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if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$value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&lt;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throw 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Exception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"El precio no puede ser negativo"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$value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4679156" y="121443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Uso de Property Hooks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4679156" y="1457325"/>
            <a:ext cx="3964781" cy="22778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4793456" y="1571625"/>
            <a:ext cx="3736181" cy="2049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Crear 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"manzana"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1.50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El hook 'get' convierte a mayúsculas automáticamente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MANZANA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El hook 'set' valida el 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2.00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OK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Esto lanzará una excepción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-5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Exception: El precio no puede ser negativo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4679156" y="3842333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Ventajas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679156" y="4085220"/>
            <a:ext cx="396478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✅ Código más limpio y conciso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✅ Validación automática al asignar valores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✅ Transformación de datos al leer propiedades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✅ No necesitas métodos getter/setter manuales</a:t>
            </a:r>
            <a:endParaRPr lang="en-US" sz="67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Visibilidad: Public, Private, Protected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042988"/>
            <a:ext cx="2666991" cy="52149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514350" y="1128713"/>
            <a:ext cx="24955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public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14350" y="1350169"/>
            <a:ext cx="24955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90000"/>
                  </a:srgbClr>
                </a:solidFill>
              </a:rPr>
              <a:t>Acceso desde cualquier lugar</a:t>
            </a:r>
            <a:endParaRPr lang="en-US" sz="621" dirty="0"/>
          </a:p>
        </p:txBody>
      </p:sp>
      <p:sp>
        <p:nvSpPr>
          <p:cNvPr id="7" name="Text 4"/>
          <p:cNvSpPr/>
          <p:nvPr/>
        </p:nvSpPr>
        <p:spPr>
          <a:xfrm>
            <a:off x="428625" y="1650206"/>
            <a:ext cx="266699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Las propiedades y métodos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151"/>
                </a:solidFill>
              </a:rPr>
              <a:t>public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son accesibles desde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cualquier parte del código.</a:t>
            </a:r>
            <a:endParaRPr lang="en-US" sz="674" dirty="0"/>
          </a:p>
        </p:txBody>
      </p:sp>
      <p:sp>
        <p:nvSpPr>
          <p:cNvPr id="8" name="Shape 5"/>
          <p:cNvSpPr/>
          <p:nvPr/>
        </p:nvSpPr>
        <p:spPr>
          <a:xfrm>
            <a:off x="428625" y="2014538"/>
            <a:ext cx="2666991" cy="180859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514350" y="2100263"/>
            <a:ext cx="2495541" cy="1637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mostrar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$p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$p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34D399"/>
                </a:solidFill>
              </a:rPr>
              <a:t>"Manzana"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$p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mostrar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(); </a:t>
            </a:r>
            <a:pPr algn="l" indent="0" marL="0">
              <a:lnSpc>
                <a:spcPts val="1000"/>
              </a:lnSpc>
              <a:buNone/>
            </a:pPr>
            <a:r>
              <a:rPr lang="en-US" sz="568" i="1" dirty="0">
                <a:solidFill>
                  <a:srgbClr val="94A3B8"/>
                </a:solidFill>
              </a:rPr>
              <a:t>// ✓ OK</a:t>
            </a:r>
            <a:endParaRPr lang="en-US" sz="534" dirty="0"/>
          </a:p>
        </p:txBody>
      </p:sp>
      <p:sp>
        <p:nvSpPr>
          <p:cNvPr id="10" name="Text 7"/>
          <p:cNvSpPr/>
          <p:nvPr/>
        </p:nvSpPr>
        <p:spPr>
          <a:xfrm>
            <a:off x="428625" y="3951722"/>
            <a:ext cx="266699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 Dentro de la clase</a:t>
            </a:r>
            <a:endParaRPr lang="en-US" sz="534" dirty="0"/>
          </a:p>
        </p:txBody>
      </p:sp>
      <p:sp>
        <p:nvSpPr>
          <p:cNvPr id="11" name="Text 8"/>
          <p:cNvSpPr/>
          <p:nvPr/>
        </p:nvSpPr>
        <p:spPr>
          <a:xfrm>
            <a:off x="428625" y="4069593"/>
            <a:ext cx="266699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 Desde objetos externos</a:t>
            </a:r>
            <a:endParaRPr lang="en-US" sz="534" dirty="0"/>
          </a:p>
        </p:txBody>
      </p:sp>
      <p:sp>
        <p:nvSpPr>
          <p:cNvPr id="12" name="Text 9"/>
          <p:cNvSpPr/>
          <p:nvPr/>
        </p:nvSpPr>
        <p:spPr>
          <a:xfrm>
            <a:off x="428625" y="4187465"/>
            <a:ext cx="266699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 Desde clases heredadas</a:t>
            </a:r>
            <a:endParaRPr lang="en-US" sz="534" dirty="0"/>
          </a:p>
        </p:txBody>
      </p:sp>
      <p:sp>
        <p:nvSpPr>
          <p:cNvPr id="13" name="Shape 10"/>
          <p:cNvSpPr/>
          <p:nvPr/>
        </p:nvSpPr>
        <p:spPr>
          <a:xfrm>
            <a:off x="3238491" y="1042988"/>
            <a:ext cx="2666991" cy="52149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3324216" y="1128713"/>
            <a:ext cx="24955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private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324216" y="1350169"/>
            <a:ext cx="24955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90000"/>
                  </a:srgbClr>
                </a:solidFill>
              </a:rPr>
              <a:t>Solo dentro de la clase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3238491" y="1650206"/>
            <a:ext cx="266699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Las propiedades y métodos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151"/>
                </a:solidFill>
              </a:rPr>
              <a:t>private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solo son accesibles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desde dentro de la misma clase.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3238491" y="2014538"/>
            <a:ext cx="2666991" cy="208145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3324216" y="2100263"/>
            <a:ext cx="2495541" cy="191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private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$costo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private function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calcular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costo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* 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34D399"/>
                </a:solidFill>
              </a:rPr>
              <a:t>1.2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getPrecio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calcular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$p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$p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costo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568" i="1" dirty="0">
                <a:solidFill>
                  <a:srgbClr val="94A3B8"/>
                </a:solidFill>
              </a:rPr>
              <a:t>// ✗ Error</a:t>
            </a:r>
            <a:endParaRPr lang="en-US" sz="534" dirty="0"/>
          </a:p>
        </p:txBody>
      </p:sp>
      <p:sp>
        <p:nvSpPr>
          <p:cNvPr id="19" name="Text 16"/>
          <p:cNvSpPr/>
          <p:nvPr/>
        </p:nvSpPr>
        <p:spPr>
          <a:xfrm>
            <a:off x="3238491" y="4224579"/>
            <a:ext cx="266699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 Dentro de la clase</a:t>
            </a:r>
            <a:endParaRPr lang="en-US" sz="534" dirty="0"/>
          </a:p>
        </p:txBody>
      </p:sp>
      <p:sp>
        <p:nvSpPr>
          <p:cNvPr id="20" name="Text 17"/>
          <p:cNvSpPr/>
          <p:nvPr/>
        </p:nvSpPr>
        <p:spPr>
          <a:xfrm>
            <a:off x="3238491" y="4342451"/>
            <a:ext cx="266699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F4444"/>
                </a:solidFill>
              </a:rPr>
              <a:t>✗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 Desde objetos externos</a:t>
            </a:r>
            <a:endParaRPr lang="en-US" sz="534" dirty="0"/>
          </a:p>
        </p:txBody>
      </p:sp>
      <p:sp>
        <p:nvSpPr>
          <p:cNvPr id="21" name="Text 18"/>
          <p:cNvSpPr/>
          <p:nvPr/>
        </p:nvSpPr>
        <p:spPr>
          <a:xfrm>
            <a:off x="3238491" y="4460323"/>
            <a:ext cx="266699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F4444"/>
                </a:solidFill>
              </a:rPr>
              <a:t>✗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 Desde clases heredadas</a:t>
            </a:r>
            <a:endParaRPr lang="en-US" sz="534" dirty="0"/>
          </a:p>
        </p:txBody>
      </p:sp>
      <p:sp>
        <p:nvSpPr>
          <p:cNvPr id="22" name="Shape 19"/>
          <p:cNvSpPr/>
          <p:nvPr/>
        </p:nvSpPr>
        <p:spPr>
          <a:xfrm>
            <a:off x="6048356" y="1042988"/>
            <a:ext cx="2667019" cy="52149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134081" y="1128713"/>
            <a:ext cx="24955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protected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134081" y="1350169"/>
            <a:ext cx="24955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>
                    <a:alpha val="90000"/>
                  </a:srgbClr>
                </a:solidFill>
              </a:rPr>
              <a:t>Clase y clases heredadas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6048356" y="1650206"/>
            <a:ext cx="266701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Las propiedades y métodos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151"/>
                </a:solidFill>
              </a:rPr>
              <a:t>protected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son accesibles desde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la clase y sus clases heredadas.</a:t>
            </a:r>
            <a:endParaRPr lang="en-US" sz="674" dirty="0"/>
          </a:p>
        </p:txBody>
      </p:sp>
      <p:sp>
        <p:nvSpPr>
          <p:cNvPr id="26" name="Shape 23"/>
          <p:cNvSpPr/>
          <p:nvPr/>
        </p:nvSpPr>
        <p:spPr>
          <a:xfrm>
            <a:off x="6048356" y="2014538"/>
            <a:ext cx="2667019" cy="19450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4"/>
          <p:cNvSpPr/>
          <p:nvPr/>
        </p:nvSpPr>
        <p:spPr>
          <a:xfrm>
            <a:off x="6134081" y="2100263"/>
            <a:ext cx="2495569" cy="1773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protected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$margen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protected function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calcular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margen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Libro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extends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mostrar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BBF24"/>
                </a:solidFill>
              </a:rPr>
              <a:t>calcular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(); </a:t>
            </a:r>
            <a:pPr algn="l" indent="0" marL="0">
              <a:lnSpc>
                <a:spcPts val="1000"/>
              </a:lnSpc>
              <a:buNone/>
            </a:pPr>
            <a:r>
              <a:rPr lang="en-US" sz="568" i="1" dirty="0">
                <a:solidFill>
                  <a:srgbClr val="94A3B8"/>
                </a:solidFill>
              </a:rPr>
              <a:t>// ✓ OK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</a:t>
            </a:r>
            <a:endParaRPr lang="en-US" sz="534" dirty="0"/>
          </a:p>
        </p:txBody>
      </p:sp>
      <p:sp>
        <p:nvSpPr>
          <p:cNvPr id="28" name="Text 25"/>
          <p:cNvSpPr/>
          <p:nvPr/>
        </p:nvSpPr>
        <p:spPr>
          <a:xfrm>
            <a:off x="6048356" y="4088150"/>
            <a:ext cx="26670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 Dentro de la clase</a:t>
            </a:r>
            <a:endParaRPr lang="en-US" sz="534" dirty="0"/>
          </a:p>
        </p:txBody>
      </p:sp>
      <p:sp>
        <p:nvSpPr>
          <p:cNvPr id="29" name="Text 26"/>
          <p:cNvSpPr/>
          <p:nvPr/>
        </p:nvSpPr>
        <p:spPr>
          <a:xfrm>
            <a:off x="6048356" y="4206022"/>
            <a:ext cx="26670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F4444"/>
                </a:solidFill>
              </a:rPr>
              <a:t>✗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 Desde objetos externos</a:t>
            </a:r>
            <a:endParaRPr lang="en-US" sz="534" dirty="0"/>
          </a:p>
        </p:txBody>
      </p:sp>
      <p:sp>
        <p:nvSpPr>
          <p:cNvPr id="30" name="Text 27"/>
          <p:cNvSpPr/>
          <p:nvPr/>
        </p:nvSpPr>
        <p:spPr>
          <a:xfrm>
            <a:off x="6048356" y="4323894"/>
            <a:ext cx="26670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B7280"/>
                </a:solidFill>
              </a:rPr>
              <a:t> Desde clases heredadas</a:t>
            </a:r>
            <a:endParaRPr lang="en-US" sz="5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259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Herencia II: Override y Parent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Sobrescribir Métodos (Override)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00063" y="1285875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Las clases hijas pueden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sobrescribir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(override) los métodos heredados para cambiar su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comportamiento.</a:t>
            </a:r>
            <a:endParaRPr lang="en-US" sz="674" dirty="0"/>
          </a:p>
        </p:txBody>
      </p:sp>
      <p:sp>
        <p:nvSpPr>
          <p:cNvPr id="6" name="Shape 3"/>
          <p:cNvSpPr/>
          <p:nvPr/>
        </p:nvSpPr>
        <p:spPr>
          <a:xfrm>
            <a:off x="500063" y="1650206"/>
            <a:ext cx="3964781" cy="516638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614363" y="1764506"/>
            <a:ext cx="3736181" cy="4937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Clase padre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calcularPrecioFinal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mostrarInfo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"Producto: {$this-&gt;nombre}"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Clase hija que sobrescribe métodos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ProductoDescuento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extends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$descuento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parent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Override del método padre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calcularPrecioFinal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* 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$descuento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4679156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Uso de parent::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679156" y="1285875"/>
            <a:ext cx="3964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La palabra clave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parent::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permite acceder a métodos de la clase padre desde la clase hija.</a:t>
            </a:r>
            <a:endParaRPr lang="en-US" sz="674" dirty="0"/>
          </a:p>
        </p:txBody>
      </p:sp>
      <p:sp>
        <p:nvSpPr>
          <p:cNvPr id="10" name="Shape 7"/>
          <p:cNvSpPr/>
          <p:nvPr/>
        </p:nvSpPr>
        <p:spPr>
          <a:xfrm>
            <a:off x="4679156" y="1510903"/>
            <a:ext cx="3964781" cy="436996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4793456" y="1625203"/>
            <a:ext cx="3736181" cy="4141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ProductoConIVA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extends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$iva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0.21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parent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calcularPrecioFinal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Llamar al método padre y añadir IVA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$precioBase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parent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calcularPrecioFinal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$precioBase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* 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+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iva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mostrarInfo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Reutilizar método padre y añadir 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parent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mostrarInfo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$info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.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 (IVA: {$this-&gt;iva})"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Uso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ProductoConIVA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"Manzana"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1.50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calcularPrecioFinal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1.815 (1.50 + 21% IVA)</a:t>
            </a:r>
            <a:endParaRPr lang="en-US" sz="6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68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Visibilidad Asimétrica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842963"/>
            <a:ext cx="8143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✨ Novedad en PHP 8.4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00063" y="121443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¿Qué es la Visibilidad Asimétrica?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00063" y="1457325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La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visibilidad asimétrica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permite definir diferentes niveles de acceso para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lectura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y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escritura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de una propiedad.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500063" y="1821656"/>
            <a:ext cx="3964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Por ejemplo: una propiedad puede ser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pública para lectura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pero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privada para escritura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.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500063" y="2068116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Sintaxis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500063" y="2311003"/>
            <a:ext cx="3964781" cy="341426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614363" y="2425303"/>
            <a:ext cx="3736181" cy="3185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Sintaxis: public(set) private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Lectura: public | Escritura: private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set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private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$id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set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private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$id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✓ OK (dentro de la clase)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id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$id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aplicarDescuento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$desc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✓ OK (modificar dentro de la clase)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*= 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$desc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4679156" y="121443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Uso de Visibilidad Asimétrica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679156" y="1457325"/>
            <a:ext cx="3964781" cy="306355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4793456" y="1571625"/>
            <a:ext cx="3736181" cy="2834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Crear 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"P001"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100.00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✓ Lectura permitida (public)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id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P001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100.00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✗ Escritura NO permitida (private)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50.00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Error: Cannot modify private(set) property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✓ Modificar mediante método público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aplicarDescuento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0.10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90.00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679156" y="4628034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Ventajas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679156" y="4870921"/>
            <a:ext cx="396478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✅ Propiedades de solo lectura desde fuera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✅ Control total de modificaciones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✅ Código más seguro y predecible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✅ No necesitas getters manuales</a:t>
            </a:r>
            <a:endParaRPr lang="en-US" sz="67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417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Interfaces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¿Qué son las Interfaces?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00063" y="1285875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Una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interface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es un contrato que define qué métodos debe implementar una clase, pero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no cómo se implementan.</a:t>
            </a:r>
            <a:endParaRPr lang="en-US" sz="674" dirty="0"/>
          </a:p>
        </p:txBody>
      </p:sp>
      <p:sp>
        <p:nvSpPr>
          <p:cNvPr id="6" name="Text 3"/>
          <p:cNvSpPr/>
          <p:nvPr/>
        </p:nvSpPr>
        <p:spPr>
          <a:xfrm>
            <a:off x="500063" y="167163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Características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00063" y="1914525"/>
            <a:ext cx="396478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• Todos los métodos son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públicos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• No pueden tener propiedades (solo constantes)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• Una clase puede implementar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múltiples interfaces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• Se usa la palabra clave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implements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500063" y="2578894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Definir una Interface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500063" y="2821781"/>
            <a:ext cx="3964781" cy="182143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614363" y="2936081"/>
            <a:ext cx="3736181" cy="1592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Definir interface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interface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Pagable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procesarPago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$monto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bool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obtenerRecibo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interface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Enviable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calcularEnvio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obtenerDireccion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4679156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Implementar Interfaces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679156" y="1285875"/>
            <a:ext cx="3964781" cy="46885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4793456" y="1400175"/>
            <a:ext cx="3736181" cy="4459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Implementar una interface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Pedido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implements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Pagable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private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$total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$total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total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$total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procesarPago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$monto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bool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if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$monto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&gt;=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total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"Pago procesado\n"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true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false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obtenerRecibo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"Recibo: ${$this-&gt;total}"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Implementar múltiples interfaces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PedidoOnline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implements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Pagable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Enviable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procesarPago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$monto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bool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/*...*/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obtenerRecibo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/*...*/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calcularEnvio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/*...*/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obtenerDireccion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/*...*/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</a:t>
            </a:r>
            <a:endParaRPr lang="en-US" sz="67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568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Clases Abstractas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¿Qué son las Clases Abstractas?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00063" y="1285875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Una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clase abstracta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es una clase que no puede ser instanciada directamente. Sirve como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plantilla base para otras clases.</a:t>
            </a:r>
            <a:endParaRPr lang="en-US" sz="674" dirty="0"/>
          </a:p>
        </p:txBody>
      </p:sp>
      <p:sp>
        <p:nvSpPr>
          <p:cNvPr id="6" name="Text 3"/>
          <p:cNvSpPr/>
          <p:nvPr/>
        </p:nvSpPr>
        <p:spPr>
          <a:xfrm>
            <a:off x="500063" y="1650206"/>
            <a:ext cx="3964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Se declara con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abstract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y puede contener métodos normales y métodos abstractos.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500063" y="1896666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Definir Clase Abstracta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500063" y="2139553"/>
            <a:ext cx="3964781" cy="357354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614363" y="2253853"/>
            <a:ext cx="3736181" cy="334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abstract 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protected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protected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Método normal (con implementación)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Método abstracto (sin implementación)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abstract 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calcularPrecioFinal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abstract 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obtenerTipo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✗ ERROR: No se puede instanciar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4679156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Implementar Clase Abstracta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4679156" y="1285875"/>
            <a:ext cx="3964781" cy="421068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4793456" y="1400175"/>
            <a:ext cx="3736181" cy="3982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Clase hija que implementa métodos abstractos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Libro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extends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private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$iva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0.04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parent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Implementar método abstracto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calcularPrecioFinal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* 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+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iva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Implementar método abstracto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obtenerTipo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"Libro"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✓ OK: Instanciar clase hija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$libro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Libro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"PHP 8.4"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29.99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$libro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calcularPrecioFinal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31.19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4679156" y="5603714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Diferencias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679156" y="5846601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151"/>
                </a:solidFill>
              </a:rPr>
              <a:t>Clase Abstracta: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Puede tener métodos implementados y propiedades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151"/>
                </a:solidFill>
              </a:rPr>
              <a:t>Interface: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Solo declaraciones de métodos, sin implementación</a:t>
            </a:r>
            <a:endParaRPr lang="en-US" sz="6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0437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Traits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¿Qué son los Traits?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00063" y="1285875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Un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trait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es un mecanismo de reutilización de código que permite compartir métodos entre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clases sin usar herencia.</a:t>
            </a:r>
            <a:endParaRPr lang="en-US" sz="674" dirty="0"/>
          </a:p>
        </p:txBody>
      </p:sp>
      <p:sp>
        <p:nvSpPr>
          <p:cNvPr id="6" name="Text 3"/>
          <p:cNvSpPr/>
          <p:nvPr/>
        </p:nvSpPr>
        <p:spPr>
          <a:xfrm>
            <a:off x="500063" y="1650206"/>
            <a:ext cx="3964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Los traits resuelven el problema de la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herencia múltiple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en PHP.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500063" y="1896666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Características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00063" y="2139553"/>
            <a:ext cx="396478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• Se declaran con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trait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• Se usan en clases con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use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• Una clase puede usar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múltiples traits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• No se pueden instanciar directamente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500063" y="2803922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Definir un Trait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500063" y="3046809"/>
            <a:ext cx="3964781" cy="2140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614363" y="3161109"/>
            <a:ext cx="3736181" cy="19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Definir un trait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trait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Timestamp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$fechaCreacion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marcarCreacion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fechaCreacion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date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'Y-m-d H:i:s'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obtenerFecha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fechaCreacion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679156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Usar Traits en Clases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679156" y="1285875"/>
            <a:ext cx="3964781" cy="53149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4793456" y="1400175"/>
            <a:ext cx="3736181" cy="5086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Usar un trait en una clase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use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Timestamp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"Manzana"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marcarCreacion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$p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obtenerFecha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Salida: 2024-11-19 15:30:45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94A3B8"/>
                </a:solidFill>
              </a:rPr>
              <a:t>// Usar múltiples traits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trait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Auditable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registrarCambio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"Cambio registrado\n"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Usuario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use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Timestamp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Auditable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public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   ) {}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$usuario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Usuario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4D399"/>
                </a:solidFill>
              </a:rPr>
              <a:t>"Juan"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$usuario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marcarCreacion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472B6"/>
                </a:solidFill>
              </a:rPr>
              <a:t>$usuario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BBF24"/>
                </a:solidFill>
              </a:rPr>
              <a:t>registrarCambio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();</a:t>
            </a:r>
            <a:endParaRPr lang="en-US" sz="67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477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Ejemplo Completo I: Sistema de Productos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Clase Base: Producto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500063" y="1285875"/>
            <a:ext cx="3964781" cy="417287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614363" y="1400175"/>
            <a:ext cx="3736181" cy="394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protected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protected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protected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$stock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$stock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precio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stock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$stock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vender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$cantidad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):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bool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if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(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stock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&gt;=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$cantidad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)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stock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-=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$cantidad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true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false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obtenerInfo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"{$this-&gt;nombre} - €{$this-&gt;precio}"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4679156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Clase Hija: ProductoFisico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4679156" y="1285875"/>
            <a:ext cx="3964781" cy="431895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4793456" y="1400175"/>
            <a:ext cx="3736181" cy="4090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ProductoFisico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extends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Producto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private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$peso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private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$costoEnvio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5.0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int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$stock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$peso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parent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$precio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$stock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peso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$peso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calcularEnvio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float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costoEnvio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+ (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peso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*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0.5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obtenerInfo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$info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parent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::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obtenerInfo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$info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.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" (Peso: {$this-&gt;peso}kg)"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// Uso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ProductoFisico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"Libro"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29.99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50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0.5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obtenerInfo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"Envío: €"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.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$producto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calcularEnvio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();</a:t>
            </a:r>
            <a:endParaRPr lang="en-US" sz="58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8459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Ejemplo Completo II: Sistema de Usuarios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Interface + Trait + Clase Abstracta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500063" y="1285875"/>
            <a:ext cx="3964781" cy="811714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614363" y="1400175"/>
            <a:ext cx="3736181" cy="7888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// Interface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interface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Autenticable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login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$password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):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bool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logout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void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// Trait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trait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Timestamps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private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DateTime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$createdAt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setTimestamps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createdAt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DateTime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getCreatedAt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createdAt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// Clase abstracta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abstract class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Usuario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implements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Autenticable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use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Timestamps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protected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protected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$email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private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$passwordHash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$email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$password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)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nombre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$nombre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email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$email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passwordHash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password_hash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$password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PASSWORD_DEFAULT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);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setTimestamps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login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string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$password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):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bool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password_verify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$password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passwordHash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);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logout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void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"Sesión cerrada\n"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abstract 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obtenerPermisos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array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621" dirty="0"/>
          </a:p>
        </p:txBody>
      </p:sp>
      <p:sp>
        <p:nvSpPr>
          <p:cNvPr id="7" name="Text 4"/>
          <p:cNvSpPr/>
          <p:nvPr/>
        </p:nvSpPr>
        <p:spPr>
          <a:xfrm>
            <a:off x="4679156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Clase Hija: Admin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4679156" y="1285875"/>
            <a:ext cx="3964781" cy="315028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4793456" y="1400175"/>
            <a:ext cx="3736181" cy="2921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Admin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extends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Usuario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obtenerPermisos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array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'crear'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'leer'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'actualizar'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'eliminar'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];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Cliente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extends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Usuario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obtenerPermisos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():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array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return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'leer'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];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// Uso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$admin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Admin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"Juan"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"juan@mail.com"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"pass123"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);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if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(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$admin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login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"pass123"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))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echo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"Login exitoso\n"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print_r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$admin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obtenerPermisos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());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$admin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logout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58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4177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Buenas Prácticas en POO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Principios SOLID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00063" y="1285875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S - Single Responsibility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00063" y="1435894"/>
            <a:ext cx="39647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74151"/>
                </a:solidFill>
              </a:rPr>
              <a:t>Una clase debe tener una sola responsabilidad</a:t>
            </a:r>
            <a:endParaRPr lang="en-US" sz="621" dirty="0"/>
          </a:p>
        </p:txBody>
      </p:sp>
      <p:sp>
        <p:nvSpPr>
          <p:cNvPr id="7" name="Text 4"/>
          <p:cNvSpPr/>
          <p:nvPr/>
        </p:nvSpPr>
        <p:spPr>
          <a:xfrm>
            <a:off x="500063" y="1627324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O - Open/Closed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00063" y="1777343"/>
            <a:ext cx="39647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74151"/>
                </a:solidFill>
              </a:rPr>
              <a:t>Abierto para extensión, cerrado para modificación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500063" y="1968773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L - Liskov Substitution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00063" y="2118792"/>
            <a:ext cx="39647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74151"/>
                </a:solidFill>
              </a:rPr>
              <a:t>Las clases hijas deben poder sustituir a las padre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00063" y="2310222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I - Interface Segregation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500063" y="2460241"/>
            <a:ext cx="39647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74151"/>
                </a:solidFill>
              </a:rPr>
              <a:t>Interfaces específicas mejor que generales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00063" y="2651671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D - Dependency Inversion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00063" y="2801689"/>
            <a:ext cx="39647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74151"/>
                </a:solidFill>
              </a:rPr>
              <a:t>Depende de abstracciones, no de implementaciones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500063" y="302883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Encapsulación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500063" y="3271726"/>
            <a:ext cx="3964781" cy="27031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614363" y="3394956"/>
            <a:ext cx="83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//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697688" y="3394956"/>
            <a:ext cx="25499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EF4444"/>
                </a:solidFill>
              </a:rPr>
              <a:t>✗ MAL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614363" y="3541040"/>
            <a:ext cx="2019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class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867798" y="3541040"/>
            <a:ext cx="3141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Usuario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1181984" y="3541040"/>
            <a:ext cx="548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{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614363" y="3687124"/>
            <a:ext cx="891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703520" y="3687124"/>
            <a:ext cx="2545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1009501" y="3687124"/>
            <a:ext cx="2649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$saldo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1274406" y="3687124"/>
            <a:ext cx="936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=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1368028" y="3687124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0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1417086" y="3687124"/>
            <a:ext cx="229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614363" y="3833208"/>
            <a:ext cx="325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614363" y="3979292"/>
            <a:ext cx="1020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$u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716384" y="3979292"/>
            <a:ext cx="936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=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810006" y="3979292"/>
            <a:ext cx="17429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new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1035760" y="3979292"/>
            <a:ext cx="3141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Usuario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1349946" y="3979292"/>
            <a:ext cx="7442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();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614363" y="4125376"/>
            <a:ext cx="1020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$u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716384" y="4125376"/>
            <a:ext cx="766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793040" y="4125376"/>
            <a:ext cx="2158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saldo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1008915" y="4125376"/>
            <a:ext cx="936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=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1102537" y="4125376"/>
            <a:ext cx="1961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9999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1298684" y="4125376"/>
            <a:ext cx="452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1343974" y="4125376"/>
            <a:ext cx="8564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// Modificación directa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614363" y="4408615"/>
            <a:ext cx="83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//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697688" y="4408615"/>
            <a:ext cx="26473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10B981"/>
                </a:solidFill>
              </a:rPr>
              <a:t>✓ BIEN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614363" y="4554699"/>
            <a:ext cx="2019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class</a:t>
            </a:r>
            <a:endParaRPr lang="en-US" sz="584" dirty="0"/>
          </a:p>
        </p:txBody>
      </p:sp>
      <p:sp>
        <p:nvSpPr>
          <p:cNvPr id="44" name="Text 41"/>
          <p:cNvSpPr/>
          <p:nvPr/>
        </p:nvSpPr>
        <p:spPr>
          <a:xfrm>
            <a:off x="867798" y="4554699"/>
            <a:ext cx="3141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Usuario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1181984" y="4554699"/>
            <a:ext cx="548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{</a:t>
            </a:r>
            <a:endParaRPr lang="en-US" sz="621" dirty="0"/>
          </a:p>
        </p:txBody>
      </p:sp>
      <p:sp>
        <p:nvSpPr>
          <p:cNvPr id="46" name="Text 43"/>
          <p:cNvSpPr/>
          <p:nvPr/>
        </p:nvSpPr>
        <p:spPr>
          <a:xfrm>
            <a:off x="614363" y="4700783"/>
            <a:ext cx="891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703520" y="4700783"/>
            <a:ext cx="2977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private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1052726" y="4700783"/>
            <a:ext cx="1825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float</a:t>
            </a:r>
            <a:endParaRPr lang="en-US" sz="621" dirty="0"/>
          </a:p>
        </p:txBody>
      </p:sp>
      <p:sp>
        <p:nvSpPr>
          <p:cNvPr id="49" name="Text 46"/>
          <p:cNvSpPr/>
          <p:nvPr/>
        </p:nvSpPr>
        <p:spPr>
          <a:xfrm>
            <a:off x="1286712" y="4700783"/>
            <a:ext cx="2649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$saldo</a:t>
            </a:r>
            <a:endParaRPr lang="en-US" sz="621" dirty="0"/>
          </a:p>
        </p:txBody>
      </p:sp>
      <p:sp>
        <p:nvSpPr>
          <p:cNvPr id="50" name="Text 47"/>
          <p:cNvSpPr/>
          <p:nvPr/>
        </p:nvSpPr>
        <p:spPr>
          <a:xfrm>
            <a:off x="1551617" y="4700783"/>
            <a:ext cx="936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=</a:t>
            </a:r>
            <a:endParaRPr lang="en-US" sz="621" dirty="0"/>
          </a:p>
        </p:txBody>
      </p:sp>
      <p:sp>
        <p:nvSpPr>
          <p:cNvPr id="51" name="Text 48"/>
          <p:cNvSpPr/>
          <p:nvPr/>
        </p:nvSpPr>
        <p:spPr>
          <a:xfrm>
            <a:off x="1645239" y="4700783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0</a:t>
            </a:r>
            <a:endParaRPr lang="en-US" sz="621" dirty="0"/>
          </a:p>
        </p:txBody>
      </p:sp>
      <p:sp>
        <p:nvSpPr>
          <p:cNvPr id="52" name="Text 49"/>
          <p:cNvSpPr/>
          <p:nvPr/>
        </p:nvSpPr>
        <p:spPr>
          <a:xfrm>
            <a:off x="1694297" y="4700783"/>
            <a:ext cx="229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</a:t>
            </a:r>
            <a:endParaRPr lang="en-US" sz="621" dirty="0"/>
          </a:p>
        </p:txBody>
      </p:sp>
      <p:sp>
        <p:nvSpPr>
          <p:cNvPr id="53" name="Text 50"/>
          <p:cNvSpPr/>
          <p:nvPr/>
        </p:nvSpPr>
        <p:spPr>
          <a:xfrm>
            <a:off x="614363" y="4846867"/>
            <a:ext cx="891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endParaRPr lang="en-US" sz="621" dirty="0"/>
          </a:p>
        </p:txBody>
      </p:sp>
      <p:sp>
        <p:nvSpPr>
          <p:cNvPr id="54" name="Text 51"/>
          <p:cNvSpPr/>
          <p:nvPr/>
        </p:nvSpPr>
        <p:spPr>
          <a:xfrm>
            <a:off x="614363" y="4992951"/>
            <a:ext cx="891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endParaRPr lang="en-US" sz="621" dirty="0"/>
          </a:p>
        </p:txBody>
      </p:sp>
      <p:sp>
        <p:nvSpPr>
          <p:cNvPr id="55" name="Text 52"/>
          <p:cNvSpPr/>
          <p:nvPr/>
        </p:nvSpPr>
        <p:spPr>
          <a:xfrm>
            <a:off x="703520" y="4992951"/>
            <a:ext cx="6287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endParaRPr lang="en-US" sz="584" dirty="0"/>
          </a:p>
        </p:txBody>
      </p:sp>
      <p:sp>
        <p:nvSpPr>
          <p:cNvPr id="56" name="Text 53"/>
          <p:cNvSpPr/>
          <p:nvPr/>
        </p:nvSpPr>
        <p:spPr>
          <a:xfrm>
            <a:off x="1383711" y="4992951"/>
            <a:ext cx="3832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depositar</a:t>
            </a:r>
            <a:endParaRPr lang="en-US" sz="621" dirty="0"/>
          </a:p>
        </p:txBody>
      </p:sp>
      <p:sp>
        <p:nvSpPr>
          <p:cNvPr id="57" name="Text 54"/>
          <p:cNvSpPr/>
          <p:nvPr/>
        </p:nvSpPr>
        <p:spPr>
          <a:xfrm>
            <a:off x="1766990" y="4992951"/>
            <a:ext cx="257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</a:t>
            </a:r>
            <a:endParaRPr lang="en-US" sz="621" dirty="0"/>
          </a:p>
        </p:txBody>
      </p:sp>
      <p:sp>
        <p:nvSpPr>
          <p:cNvPr id="58" name="Text 55"/>
          <p:cNvSpPr/>
          <p:nvPr/>
        </p:nvSpPr>
        <p:spPr>
          <a:xfrm>
            <a:off x="1792718" y="4992951"/>
            <a:ext cx="1825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float</a:t>
            </a:r>
            <a:endParaRPr lang="en-US" sz="621" dirty="0"/>
          </a:p>
        </p:txBody>
      </p:sp>
      <p:sp>
        <p:nvSpPr>
          <p:cNvPr id="59" name="Text 56"/>
          <p:cNvSpPr/>
          <p:nvPr/>
        </p:nvSpPr>
        <p:spPr>
          <a:xfrm>
            <a:off x="2026704" y="4992951"/>
            <a:ext cx="31686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$monto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2343569" y="4992951"/>
            <a:ext cx="805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) {</a:t>
            </a:r>
            <a:endParaRPr lang="en-US" sz="621" dirty="0"/>
          </a:p>
        </p:txBody>
      </p:sp>
      <p:sp>
        <p:nvSpPr>
          <p:cNvPr id="61" name="Text 58"/>
          <p:cNvSpPr/>
          <p:nvPr/>
        </p:nvSpPr>
        <p:spPr>
          <a:xfrm>
            <a:off x="614363" y="5139035"/>
            <a:ext cx="1783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endParaRPr lang="en-US" sz="621" dirty="0"/>
          </a:p>
        </p:txBody>
      </p:sp>
      <p:sp>
        <p:nvSpPr>
          <p:cNvPr id="62" name="Text 59"/>
          <p:cNvSpPr/>
          <p:nvPr/>
        </p:nvSpPr>
        <p:spPr>
          <a:xfrm>
            <a:off x="792677" y="5139035"/>
            <a:ext cx="564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if</a:t>
            </a:r>
            <a:endParaRPr lang="en-US" sz="584" dirty="0"/>
          </a:p>
        </p:txBody>
      </p:sp>
      <p:sp>
        <p:nvSpPr>
          <p:cNvPr id="63" name="Text 60"/>
          <p:cNvSpPr/>
          <p:nvPr/>
        </p:nvSpPr>
        <p:spPr>
          <a:xfrm>
            <a:off x="849102" y="5139035"/>
            <a:ext cx="480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</a:t>
            </a:r>
            <a:endParaRPr lang="en-US" sz="621" dirty="0"/>
          </a:p>
        </p:txBody>
      </p:sp>
      <p:sp>
        <p:nvSpPr>
          <p:cNvPr id="64" name="Text 61"/>
          <p:cNvSpPr/>
          <p:nvPr/>
        </p:nvSpPr>
        <p:spPr>
          <a:xfrm>
            <a:off x="897127" y="5139035"/>
            <a:ext cx="31686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$monto</a:t>
            </a:r>
            <a:endParaRPr lang="en-US" sz="621" dirty="0"/>
          </a:p>
        </p:txBody>
      </p:sp>
      <p:sp>
        <p:nvSpPr>
          <p:cNvPr id="65" name="Text 62"/>
          <p:cNvSpPr/>
          <p:nvPr/>
        </p:nvSpPr>
        <p:spPr>
          <a:xfrm>
            <a:off x="1213991" y="5139035"/>
            <a:ext cx="936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&gt;</a:t>
            </a:r>
            <a:endParaRPr lang="en-US" sz="621" dirty="0"/>
          </a:p>
        </p:txBody>
      </p:sp>
      <p:sp>
        <p:nvSpPr>
          <p:cNvPr id="66" name="Text 63"/>
          <p:cNvSpPr/>
          <p:nvPr/>
        </p:nvSpPr>
        <p:spPr>
          <a:xfrm>
            <a:off x="1307613" y="5139035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4D399"/>
                </a:solidFill>
              </a:rPr>
              <a:t>0</a:t>
            </a:r>
            <a:endParaRPr lang="en-US" sz="621" dirty="0"/>
          </a:p>
        </p:txBody>
      </p:sp>
      <p:sp>
        <p:nvSpPr>
          <p:cNvPr id="67" name="Text 64"/>
          <p:cNvSpPr/>
          <p:nvPr/>
        </p:nvSpPr>
        <p:spPr>
          <a:xfrm>
            <a:off x="1356671" y="5139035"/>
            <a:ext cx="805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) {</a:t>
            </a:r>
            <a:endParaRPr lang="en-US" sz="621" dirty="0"/>
          </a:p>
        </p:txBody>
      </p:sp>
      <p:sp>
        <p:nvSpPr>
          <p:cNvPr id="68" name="Text 65"/>
          <p:cNvSpPr/>
          <p:nvPr/>
        </p:nvSpPr>
        <p:spPr>
          <a:xfrm>
            <a:off x="614363" y="5285119"/>
            <a:ext cx="26747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endParaRPr lang="en-US" sz="621" dirty="0"/>
          </a:p>
        </p:txBody>
      </p:sp>
      <p:sp>
        <p:nvSpPr>
          <p:cNvPr id="69" name="Text 66"/>
          <p:cNvSpPr/>
          <p:nvPr/>
        </p:nvSpPr>
        <p:spPr>
          <a:xfrm>
            <a:off x="881835" y="5285119"/>
            <a:ext cx="1961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endParaRPr lang="en-US" sz="621" dirty="0"/>
          </a:p>
        </p:txBody>
      </p:sp>
      <p:sp>
        <p:nvSpPr>
          <p:cNvPr id="70" name="Text 67"/>
          <p:cNvSpPr/>
          <p:nvPr/>
        </p:nvSpPr>
        <p:spPr>
          <a:xfrm>
            <a:off x="1077981" y="5285119"/>
            <a:ext cx="766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endParaRPr lang="en-US" sz="621" dirty="0"/>
          </a:p>
        </p:txBody>
      </p:sp>
      <p:sp>
        <p:nvSpPr>
          <p:cNvPr id="71" name="Text 68"/>
          <p:cNvSpPr/>
          <p:nvPr/>
        </p:nvSpPr>
        <p:spPr>
          <a:xfrm>
            <a:off x="1154636" y="5285119"/>
            <a:ext cx="2158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saldo</a:t>
            </a:r>
            <a:endParaRPr lang="en-US" sz="621" dirty="0"/>
          </a:p>
        </p:txBody>
      </p:sp>
      <p:sp>
        <p:nvSpPr>
          <p:cNvPr id="72" name="Text 69"/>
          <p:cNvSpPr/>
          <p:nvPr/>
        </p:nvSpPr>
        <p:spPr>
          <a:xfrm>
            <a:off x="1370512" y="5285119"/>
            <a:ext cx="14265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+=</a:t>
            </a:r>
            <a:endParaRPr lang="en-US" sz="621" dirty="0"/>
          </a:p>
        </p:txBody>
      </p:sp>
      <p:sp>
        <p:nvSpPr>
          <p:cNvPr id="73" name="Text 70"/>
          <p:cNvSpPr/>
          <p:nvPr/>
        </p:nvSpPr>
        <p:spPr>
          <a:xfrm>
            <a:off x="1513163" y="5285119"/>
            <a:ext cx="31686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$monto</a:t>
            </a:r>
            <a:endParaRPr lang="en-US" sz="621" dirty="0"/>
          </a:p>
        </p:txBody>
      </p:sp>
      <p:sp>
        <p:nvSpPr>
          <p:cNvPr id="74" name="Text 71"/>
          <p:cNvSpPr/>
          <p:nvPr/>
        </p:nvSpPr>
        <p:spPr>
          <a:xfrm>
            <a:off x="1830028" y="5285119"/>
            <a:ext cx="229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</a:t>
            </a:r>
            <a:endParaRPr lang="en-US" sz="621" dirty="0"/>
          </a:p>
        </p:txBody>
      </p:sp>
      <p:sp>
        <p:nvSpPr>
          <p:cNvPr id="75" name="Text 72"/>
          <p:cNvSpPr/>
          <p:nvPr/>
        </p:nvSpPr>
        <p:spPr>
          <a:xfrm>
            <a:off x="614363" y="5431203"/>
            <a:ext cx="21090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621" dirty="0"/>
          </a:p>
        </p:txBody>
      </p:sp>
      <p:sp>
        <p:nvSpPr>
          <p:cNvPr id="76" name="Text 73"/>
          <p:cNvSpPr/>
          <p:nvPr/>
        </p:nvSpPr>
        <p:spPr>
          <a:xfrm>
            <a:off x="614363" y="5577287"/>
            <a:ext cx="12175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621" dirty="0"/>
          </a:p>
        </p:txBody>
      </p:sp>
      <p:sp>
        <p:nvSpPr>
          <p:cNvPr id="77" name="Text 74"/>
          <p:cNvSpPr/>
          <p:nvPr/>
        </p:nvSpPr>
        <p:spPr>
          <a:xfrm>
            <a:off x="614363" y="5723372"/>
            <a:ext cx="325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621" dirty="0"/>
          </a:p>
        </p:txBody>
      </p:sp>
      <p:sp>
        <p:nvSpPr>
          <p:cNvPr id="78" name="Text 75"/>
          <p:cNvSpPr/>
          <p:nvPr/>
        </p:nvSpPr>
        <p:spPr>
          <a:xfrm>
            <a:off x="4679156" y="10429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Nombres Descriptivos</a:t>
            </a:r>
            <a:endParaRPr lang="en-US" sz="784" dirty="0"/>
          </a:p>
        </p:txBody>
      </p:sp>
      <p:sp>
        <p:nvSpPr>
          <p:cNvPr id="79" name="Shape 76"/>
          <p:cNvSpPr/>
          <p:nvPr/>
        </p:nvSpPr>
        <p:spPr>
          <a:xfrm>
            <a:off x="4679156" y="1285875"/>
            <a:ext cx="3964781" cy="154335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0" name="Text 77"/>
          <p:cNvSpPr/>
          <p:nvPr/>
        </p:nvSpPr>
        <p:spPr>
          <a:xfrm>
            <a:off x="4793456" y="1409105"/>
            <a:ext cx="83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//</a:t>
            </a:r>
            <a:endParaRPr lang="en-US" sz="621" dirty="0"/>
          </a:p>
        </p:txBody>
      </p:sp>
      <p:sp>
        <p:nvSpPr>
          <p:cNvPr id="81" name="Text 78"/>
          <p:cNvSpPr/>
          <p:nvPr/>
        </p:nvSpPr>
        <p:spPr>
          <a:xfrm>
            <a:off x="4876781" y="1409105"/>
            <a:ext cx="25499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EF4444"/>
                </a:solidFill>
              </a:rPr>
              <a:t>✗ MAL</a:t>
            </a:r>
            <a:endParaRPr lang="en-US" sz="621" dirty="0"/>
          </a:p>
        </p:txBody>
      </p:sp>
      <p:sp>
        <p:nvSpPr>
          <p:cNvPr id="82" name="Text 79"/>
          <p:cNvSpPr/>
          <p:nvPr/>
        </p:nvSpPr>
        <p:spPr>
          <a:xfrm>
            <a:off x="4793456" y="1555189"/>
            <a:ext cx="2019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class</a:t>
            </a:r>
            <a:endParaRPr lang="en-US" sz="584" dirty="0"/>
          </a:p>
        </p:txBody>
      </p:sp>
      <p:sp>
        <p:nvSpPr>
          <p:cNvPr id="83" name="Text 80"/>
          <p:cNvSpPr/>
          <p:nvPr/>
        </p:nvSpPr>
        <p:spPr>
          <a:xfrm>
            <a:off x="5046892" y="1555189"/>
            <a:ext cx="548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A</a:t>
            </a:r>
            <a:endParaRPr lang="en-US" sz="621" dirty="0"/>
          </a:p>
        </p:txBody>
      </p:sp>
      <p:sp>
        <p:nvSpPr>
          <p:cNvPr id="84" name="Text 81"/>
          <p:cNvSpPr/>
          <p:nvPr/>
        </p:nvSpPr>
        <p:spPr>
          <a:xfrm>
            <a:off x="5101698" y="1555189"/>
            <a:ext cx="548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{</a:t>
            </a:r>
            <a:endParaRPr lang="en-US" sz="621" dirty="0"/>
          </a:p>
        </p:txBody>
      </p:sp>
      <p:sp>
        <p:nvSpPr>
          <p:cNvPr id="85" name="Text 82"/>
          <p:cNvSpPr/>
          <p:nvPr/>
        </p:nvSpPr>
        <p:spPr>
          <a:xfrm>
            <a:off x="4793456" y="1701273"/>
            <a:ext cx="891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endParaRPr lang="en-US" sz="621" dirty="0"/>
          </a:p>
        </p:txBody>
      </p:sp>
      <p:sp>
        <p:nvSpPr>
          <p:cNvPr id="86" name="Text 83"/>
          <p:cNvSpPr/>
          <p:nvPr/>
        </p:nvSpPr>
        <p:spPr>
          <a:xfrm>
            <a:off x="4882614" y="1701273"/>
            <a:ext cx="6287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endParaRPr lang="en-US" sz="584" dirty="0"/>
          </a:p>
        </p:txBody>
      </p:sp>
      <p:sp>
        <p:nvSpPr>
          <p:cNvPr id="87" name="Text 84"/>
          <p:cNvSpPr/>
          <p:nvPr/>
        </p:nvSpPr>
        <p:spPr>
          <a:xfrm>
            <a:off x="5562805" y="1701273"/>
            <a:ext cx="527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b</a:t>
            </a:r>
            <a:endParaRPr lang="en-US" sz="621" dirty="0"/>
          </a:p>
        </p:txBody>
      </p:sp>
      <p:sp>
        <p:nvSpPr>
          <p:cNvPr id="88" name="Text 85"/>
          <p:cNvSpPr/>
          <p:nvPr/>
        </p:nvSpPr>
        <p:spPr>
          <a:xfrm>
            <a:off x="5615546" y="1701273"/>
            <a:ext cx="1388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 {}</a:t>
            </a:r>
            <a:endParaRPr lang="en-US" sz="621" dirty="0"/>
          </a:p>
        </p:txBody>
      </p:sp>
      <p:sp>
        <p:nvSpPr>
          <p:cNvPr id="89" name="Text 86"/>
          <p:cNvSpPr/>
          <p:nvPr/>
        </p:nvSpPr>
        <p:spPr>
          <a:xfrm>
            <a:off x="4793456" y="1847357"/>
            <a:ext cx="325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621" dirty="0"/>
          </a:p>
        </p:txBody>
      </p:sp>
      <p:sp>
        <p:nvSpPr>
          <p:cNvPr id="90" name="Text 87"/>
          <p:cNvSpPr/>
          <p:nvPr/>
        </p:nvSpPr>
        <p:spPr>
          <a:xfrm>
            <a:off x="4793456" y="2139525"/>
            <a:ext cx="833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//</a:t>
            </a:r>
            <a:endParaRPr lang="en-US" sz="621" dirty="0"/>
          </a:p>
        </p:txBody>
      </p:sp>
      <p:sp>
        <p:nvSpPr>
          <p:cNvPr id="91" name="Text 88"/>
          <p:cNvSpPr/>
          <p:nvPr/>
        </p:nvSpPr>
        <p:spPr>
          <a:xfrm>
            <a:off x="4876781" y="2139525"/>
            <a:ext cx="26473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10B981"/>
                </a:solidFill>
              </a:rPr>
              <a:t>✓ BIEN</a:t>
            </a:r>
            <a:endParaRPr lang="en-US" sz="621" dirty="0"/>
          </a:p>
        </p:txBody>
      </p:sp>
      <p:sp>
        <p:nvSpPr>
          <p:cNvPr id="92" name="Text 89"/>
          <p:cNvSpPr/>
          <p:nvPr/>
        </p:nvSpPr>
        <p:spPr>
          <a:xfrm>
            <a:off x="4793456" y="2285609"/>
            <a:ext cx="2019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class</a:t>
            </a:r>
            <a:endParaRPr lang="en-US" sz="584" dirty="0"/>
          </a:p>
        </p:txBody>
      </p:sp>
      <p:sp>
        <p:nvSpPr>
          <p:cNvPr id="93" name="Text 90"/>
          <p:cNvSpPr/>
          <p:nvPr/>
        </p:nvSpPr>
        <p:spPr>
          <a:xfrm>
            <a:off x="5046892" y="2285609"/>
            <a:ext cx="6530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ProductoService</a:t>
            </a:r>
            <a:endParaRPr lang="en-US" sz="621" dirty="0"/>
          </a:p>
        </p:txBody>
      </p:sp>
      <p:sp>
        <p:nvSpPr>
          <p:cNvPr id="94" name="Text 91"/>
          <p:cNvSpPr/>
          <p:nvPr/>
        </p:nvSpPr>
        <p:spPr>
          <a:xfrm>
            <a:off x="5699959" y="2285609"/>
            <a:ext cx="548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{</a:t>
            </a:r>
            <a:endParaRPr lang="en-US" sz="621" dirty="0"/>
          </a:p>
        </p:txBody>
      </p:sp>
      <p:sp>
        <p:nvSpPr>
          <p:cNvPr id="95" name="Text 92"/>
          <p:cNvSpPr/>
          <p:nvPr/>
        </p:nvSpPr>
        <p:spPr>
          <a:xfrm>
            <a:off x="4793456" y="2431693"/>
            <a:ext cx="891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endParaRPr lang="en-US" sz="621" dirty="0"/>
          </a:p>
        </p:txBody>
      </p:sp>
      <p:sp>
        <p:nvSpPr>
          <p:cNvPr id="96" name="Text 93"/>
          <p:cNvSpPr/>
          <p:nvPr/>
        </p:nvSpPr>
        <p:spPr>
          <a:xfrm>
            <a:off x="4882614" y="2431693"/>
            <a:ext cx="6287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endParaRPr lang="en-US" sz="584" dirty="0"/>
          </a:p>
        </p:txBody>
      </p:sp>
      <p:sp>
        <p:nvSpPr>
          <p:cNvPr id="97" name="Text 94"/>
          <p:cNvSpPr/>
          <p:nvPr/>
        </p:nvSpPr>
        <p:spPr>
          <a:xfrm>
            <a:off x="5562805" y="2431693"/>
            <a:ext cx="7499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calcularPrecioFinal</a:t>
            </a:r>
            <a:endParaRPr lang="en-US" sz="621" dirty="0"/>
          </a:p>
        </p:txBody>
      </p:sp>
      <p:sp>
        <p:nvSpPr>
          <p:cNvPr id="98" name="Text 95"/>
          <p:cNvSpPr/>
          <p:nvPr/>
        </p:nvSpPr>
        <p:spPr>
          <a:xfrm>
            <a:off x="6312731" y="2431693"/>
            <a:ext cx="1388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 {}</a:t>
            </a:r>
            <a:endParaRPr lang="en-US" sz="621" dirty="0"/>
          </a:p>
        </p:txBody>
      </p:sp>
      <p:sp>
        <p:nvSpPr>
          <p:cNvPr id="99" name="Text 96"/>
          <p:cNvSpPr/>
          <p:nvPr/>
        </p:nvSpPr>
        <p:spPr>
          <a:xfrm>
            <a:off x="4793456" y="2577778"/>
            <a:ext cx="325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621" dirty="0"/>
          </a:p>
        </p:txBody>
      </p:sp>
      <p:sp>
        <p:nvSpPr>
          <p:cNvPr id="100" name="Text 97"/>
          <p:cNvSpPr/>
          <p:nvPr/>
        </p:nvSpPr>
        <p:spPr>
          <a:xfrm>
            <a:off x="4679156" y="29363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Cohesión y Acoplamiento</a:t>
            </a:r>
            <a:endParaRPr lang="en-US" sz="784" dirty="0"/>
          </a:p>
        </p:txBody>
      </p:sp>
      <p:sp>
        <p:nvSpPr>
          <p:cNvPr id="101" name="Text 98"/>
          <p:cNvSpPr/>
          <p:nvPr/>
        </p:nvSpPr>
        <p:spPr>
          <a:xfrm>
            <a:off x="4679156" y="3179276"/>
            <a:ext cx="39647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151"/>
                </a:solidFill>
              </a:rPr>
              <a:t>Alta cohesión: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Métodos relacionados en la misma clase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151"/>
                </a:solidFill>
              </a:rPr>
              <a:t>Bajo acoplamiento: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Clases independientes entre sí</a:t>
            </a:r>
            <a:endParaRPr lang="en-US" sz="674" dirty="0"/>
          </a:p>
        </p:txBody>
      </p:sp>
      <p:sp>
        <p:nvSpPr>
          <p:cNvPr id="102" name="Text 99"/>
          <p:cNvSpPr/>
          <p:nvPr/>
        </p:nvSpPr>
        <p:spPr>
          <a:xfrm>
            <a:off x="4679156" y="356503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</a:rPr>
              <a:t>Composición sobre Herencia</a:t>
            </a:r>
            <a:endParaRPr lang="en-US" sz="784" dirty="0"/>
          </a:p>
        </p:txBody>
      </p:sp>
      <p:sp>
        <p:nvSpPr>
          <p:cNvPr id="103" name="Text 100"/>
          <p:cNvSpPr/>
          <p:nvPr/>
        </p:nvSpPr>
        <p:spPr>
          <a:xfrm>
            <a:off x="4679156" y="3807926"/>
            <a:ext cx="3964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Prefiere composición (usar objetos dentro de objetos) en lugar de herencia profunda.</a:t>
            </a:r>
            <a:endParaRPr lang="en-US" sz="674" dirty="0"/>
          </a:p>
        </p:txBody>
      </p:sp>
      <p:sp>
        <p:nvSpPr>
          <p:cNvPr id="104" name="Shape 101"/>
          <p:cNvSpPr/>
          <p:nvPr/>
        </p:nvSpPr>
        <p:spPr>
          <a:xfrm>
            <a:off x="4679156" y="4032954"/>
            <a:ext cx="3964781" cy="139727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5" name="Text 102"/>
          <p:cNvSpPr/>
          <p:nvPr/>
        </p:nvSpPr>
        <p:spPr>
          <a:xfrm>
            <a:off x="4793456" y="4147254"/>
            <a:ext cx="3736181" cy="116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i="1" dirty="0">
                <a:solidFill>
                  <a:srgbClr val="94A3B8"/>
                </a:solidFill>
              </a:rPr>
              <a:t>// Composición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class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Coche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private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Motor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$motor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public function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__construct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 {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   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$this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-&gt;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472B6"/>
                </a:solidFill>
              </a:rPr>
              <a:t>motor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=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0A5FA"/>
                </a:solidFill>
              </a:rPr>
              <a:t>new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FBBF24"/>
                </a:solidFill>
              </a:rPr>
              <a:t>Motor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();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   }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62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67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F172A"/>
                </a:solidFill>
              </a:rPr>
              <a:t>Ejercicios Prácticos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00063" y="1078706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Ejercicio 1: Clase Básica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00063" y="1307306"/>
            <a:ext cx="39647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Crea una clase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Vehiculo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con propiedades marca, modelo y año. Incluye un constructor y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un método para mostrar la información completa del vehículo.</a:t>
            </a:r>
            <a:endParaRPr lang="en-US" sz="674" dirty="0"/>
          </a:p>
        </p:txBody>
      </p:sp>
      <p:sp>
        <p:nvSpPr>
          <p:cNvPr id="6" name="Text 3"/>
          <p:cNvSpPr/>
          <p:nvPr/>
        </p:nvSpPr>
        <p:spPr>
          <a:xfrm>
            <a:off x="500063" y="1747317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Ejercicio 2: Herencia Simple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00063" y="1975917"/>
            <a:ext cx="39647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Extiende la clase Vehiculo para crear una clase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Coche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que añada la propiedad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numeroPuertas. Sobrescribe el método de información para incluir este dato.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500063" y="2415927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Ejercicio 3: Visibilidad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00063" y="2644527"/>
            <a:ext cx="396478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Crea una clase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CuentaBancaria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con: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607219" y="2828813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Propiedad privada: saldo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607219" y="2993120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Métodos públicos: depositar(), retirar(), consultarSaldo()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607219" y="3157426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Validaciones: no permitir saldo negativo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00063" y="3428888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Ejercicio 4: Property Hooks (PHP 8.4)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500063" y="3657488"/>
            <a:ext cx="396478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Crea una clase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Empleado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con property hooks para: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607219" y="3841775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Validar que el salario sea mayor a 0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607219" y="4006081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Convertir el nombre a mayúsculas al leerlo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607219" y="4170387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Calcular el salario anual automáticamente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500063" y="4441850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Ejercicio 5: Interface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00063" y="4670450"/>
            <a:ext cx="39647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Define una interface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Calculable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con métodos calcularArea() y calcularPerimetro().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Implementa esta interface en clases Rectangulo y Circulo.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4679156" y="1078706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Ejercicio 6: Clase Abstracta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4679156" y="1307306"/>
            <a:ext cx="396478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Crea una clase abstracta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Figura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con: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4786313" y="1491593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Propiedad protegida: color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4786313" y="1655899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Método abstracto: calcularArea()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4786313" y="1820205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Método normal: obtenerColor()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4679156" y="2005943"/>
            <a:ext cx="396478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Crea clases Triangulo y Cuadrado que hereden de Figura.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4679156" y="2297385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Ejercicio 7: Trait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679156" y="2525985"/>
            <a:ext cx="39647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Crea un trait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1E3A8A"/>
                </a:solidFill>
              </a:rPr>
              <a:t>Timestamp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 que añada propiedades fechaCreacion y fechaModificacion, con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métodos para actualizarlas. Úsalo en una clase Articulo.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4679156" y="2965996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Ejercicio 8: Sistema Completo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679156" y="3194596"/>
            <a:ext cx="396478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151"/>
                </a:solidFill>
              </a:rPr>
              <a:t>Diseña un sistema de biblioteca con: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4786313" y="3378882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Clase abstracta: Material (titulo, autor)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4786313" y="3543188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Clases hijas: Libro, Revista, DVD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4786313" y="3707495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Interface: Prestable (prestar(), devolver())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4786313" y="3871801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Trait: Valorable (añadir/obtener valoración)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4786313" y="4036107"/>
            <a:ext cx="3857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B7280"/>
                </a:solidFill>
              </a:rPr>
              <a:t>• Implementa todo el sistema completo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2025-11-19T01:53:20Z</dcterms:created>
  <dcterms:modified xsi:type="dcterms:W3CDTF">2025-11-19T01:53:20Z</dcterms:modified>
</cp:coreProperties>
</file>